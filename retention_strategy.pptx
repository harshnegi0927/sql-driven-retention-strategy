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CCCC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CCCCCC"/>
                </a:solidFill>
                <a:latin typeface="Arial"/>
              </a:rPr>
              <a:t>Customer Share by Value Tier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 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855F7"/>
              </a:solidFill>
              <a:effectLst/>
            </c:spPr>
          </c:dPt>
          <c:dPt>
            <c:idx val="1"/>
            <c:bubble3D val="0"/>
            <c:spPr>
              <a:solidFill>
                <a:srgbClr val="EC4899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High-Value</c:v>
                </c:pt>
                <c:pt idx="1">
                  <c:v>Medium-Value</c:v>
                </c:pt>
                <c:pt idx="2">
                  <c:v>Low-Value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24.93</c:v>
                </c:pt>
                <c:pt idx="1">
                  <c:v>44.99</c:v>
                </c:pt>
                <c:pt idx="2">
                  <c:v>30.08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0D0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CCCC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CCCCCC"/>
                </a:solidFill>
                <a:latin typeface="Arial"/>
              </a:rPr>
              <a:t>Revenue by Risk Profile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Contribution %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Pure Organic Loyalist</c:v>
                  </c:pt>
                  <c:pt idx="1">
                    <c:v>Moderate Promo Hunter</c:v>
                  </c:pt>
                  <c:pt idx="2">
                    <c:v>High-Risk Promo Addict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57.96</c:v>
                </c:pt>
                <c:pt idx="1">
                  <c:v>33.52</c:v>
                </c:pt>
                <c:pt idx="2">
                  <c:v>8.52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0D0D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CCCC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CCCCCC"/>
                </a:solidFill>
                <a:latin typeface="Arial"/>
              </a:rPr>
              <a:t>Top States by Organic Revenue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Organic Revenue %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Kansas</c:v>
                  </c:pt>
                  <c:pt idx="1">
                    <c:v>Connecticut</c:v>
                  </c:pt>
                  <c:pt idx="2">
                    <c:v>Tennessee</c:v>
                  </c:pt>
                  <c:pt idx="3">
                    <c:v>Maine</c:v>
                  </c:pt>
                  <c:pt idx="4">
                    <c:v>Arizona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77.8</c:v>
                </c:pt>
                <c:pt idx="1">
                  <c:v>70.02</c:v>
                </c:pt>
                <c:pt idx="2">
                  <c:v>66.7</c:v>
                </c:pt>
                <c:pt idx="3">
                  <c:v>65.88</c:v>
                </c:pt>
                <c:pt idx="4">
                  <c:v>65.79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0D0D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CCCC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CCCCCC"/>
                </a:solidFill>
                <a:latin typeface="Arial"/>
              </a:rPr>
              <a:t>Revenue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84F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DD6F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102968</c:v>
                </c:pt>
                <c:pt idx="1">
                  <c:v>73480</c:v>
                </c:pt>
                <c:pt idx="2">
                  <c:v>35778</c:v>
                </c:pt>
                <c:pt idx="3">
                  <c:v>18403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0D0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3B0764">
              <a:alpha val="70000"/>
            </a:srgbClr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474720"/>
            <a:ext cx="2286000" cy="2286000"/>
          </a:xfrm>
          <a:prstGeom prst="ellipse">
            <a:avLst/>
          </a:prstGeom>
          <a:solidFill>
            <a:srgbClr val="1E0A3C">
              <a:alpha val="80000"/>
            </a:srgbClr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GUWAHATI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DRIVEN RETENTION STRATEGY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Customer Value in a D2C Fashion Brand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HARSH NEGI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&amp; Analytics Club  |  Summer Projects '26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brand building loyalty — or dependent on discounts?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Fundamentally healthy, but sitting on a hidden risk.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179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57.96%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Revenue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5179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3,863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179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$3,210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High-Value LTV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03720" y="1463040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5179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0372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Promo Addicts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395728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4597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revenue is organic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57.96% ($133,670) from Pure Organic Loyalists. 333 High-Risk Promo Addicts = only 8.52% revenue.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2395728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4597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highly concentrated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24.93% customers generate $76,871 with LTV $3,210 — 7.5x the Low-Value segment ($428).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172968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2369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loyalty definitions — Def A wins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4472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A (Organic+Frequency): 1,529 truly loyal. Def B (Monetary) includes promo buyers — less reliable.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3172968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2369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opportunity untapped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4472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Kansas (77.8%), Connecticut (70%), Tennessee (66.7%) — high organic, low promo dependency.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950208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0142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behavior is brand-driven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42245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categories ~49% retention, ~25 day tenure. Brand-loyal, not category-loyal. Entry: Clothing.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645152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1E0A3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6817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Recommendation: Sunset discounts for High-Risk Promo Addicts. Protect Organic Loyalists. Target Kansas, Connecticut, Tennessee for organic growth.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Tier &amp; Promo Dependency Analysis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0058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407408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E0A3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446227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57.96% revenue is organic — the brand is NOT discount-dependent. But 333 High-Risk Promo Addicts are a churn risk if discounts stop.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DEFINITION FACEOFF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competing definitions — one winner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3840480"/>
          </a:xfrm>
          <a:prstGeom prst="roundRect">
            <a:avLst>
              <a:gd name="adj" fmla="val 2381"/>
            </a:avLst>
          </a:prstGeom>
          <a:solidFill>
            <a:srgbClr val="0F1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+ Frequency Driven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09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purchase frequently without relying on promotional discounts.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3566160" cy="384048"/>
          </a:xfrm>
          <a:prstGeom prst="roundRect">
            <a:avLst>
              <a:gd name="adj" fmla="val 11905"/>
            </a:avLst>
          </a:prstGeom>
          <a:solidFill>
            <a:srgbClr val="1A0A3A"/>
          </a:solidFill>
          <a:ln w="12700">
            <a:solidFill>
              <a:srgbClr val="3B1D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40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0" y="23408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743200"/>
            <a:ext cx="3566160" cy="384048"/>
          </a:xfrm>
          <a:prstGeom prst="roundRect">
            <a:avLst>
              <a:gd name="adj" fmla="val 11905"/>
            </a:avLst>
          </a:prstGeom>
          <a:solidFill>
            <a:srgbClr val="1A0A3A"/>
          </a:solidFill>
          <a:ln w="12700">
            <a:solidFill>
              <a:srgbClr val="3B1D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98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Lifetime Spend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0" y="27980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$2,047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200400"/>
            <a:ext cx="3566160" cy="384048"/>
          </a:xfrm>
          <a:prstGeom prst="roundRect">
            <a:avLst>
              <a:gd name="adj" fmla="val 11905"/>
            </a:avLst>
          </a:prstGeom>
          <a:solidFill>
            <a:srgbClr val="1A0A3A"/>
          </a:solidFill>
          <a:ln w="12700">
            <a:solidFill>
              <a:srgbClr val="3B1D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55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0" y="32552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3.77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3657600"/>
            <a:ext cx="3566160" cy="384048"/>
          </a:xfrm>
          <a:prstGeom prst="roundRect">
            <a:avLst>
              <a:gd name="adj" fmla="val 11905"/>
            </a:avLst>
          </a:prstGeom>
          <a:solidFill>
            <a:srgbClr val="1A0A3A"/>
          </a:solidFill>
          <a:ln w="12700">
            <a:solidFill>
              <a:srgbClr val="3B1D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12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Revenue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0" y="37124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$92,168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315968"/>
            <a:ext cx="356616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3342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— Filters out promo-driven buyers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005840"/>
            <a:ext cx="3840480" cy="3840480"/>
          </a:xfrm>
          <a:prstGeom prst="roundRect">
            <a:avLst>
              <a:gd name="adj" fmla="val 2381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143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417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+ Subscription Driven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1709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high total spend or subscription, regardless of promo usage.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2286000"/>
            <a:ext cx="3566160" cy="384048"/>
          </a:xfrm>
          <a:prstGeom prst="roundRect">
            <a:avLst>
              <a:gd name="adj" fmla="val 11905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340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32320" y="23408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1,735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83480" y="2743200"/>
            <a:ext cx="3566160" cy="384048"/>
          </a:xfrm>
          <a:prstGeom prst="roundRect">
            <a:avLst>
              <a:gd name="adj" fmla="val 11905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798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Lifetime Spend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132320" y="27980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$2,256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83480" y="3200400"/>
            <a:ext cx="3566160" cy="384048"/>
          </a:xfrm>
          <a:prstGeom prst="roundRect">
            <a:avLst>
              <a:gd name="adj" fmla="val 11905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255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32320" y="32552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3.76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83480" y="3657600"/>
            <a:ext cx="3566160" cy="384048"/>
          </a:xfrm>
          <a:prstGeom prst="roundRect">
            <a:avLst>
              <a:gd name="adj" fmla="val 11905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712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Revenue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132320" y="37124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$117,396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83480" y="4315968"/>
            <a:ext cx="3566160" cy="256032"/>
          </a:xfrm>
          <a:prstGeom prst="roundRect">
            <a:avLst>
              <a:gd name="adj" fmla="val 17857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43342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promo-dependent buyers — less reliable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&amp; CATEGORY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genuine brand pull — and which category converts?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00584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06908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1E0A3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4133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Insight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48640" y="435254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Kansas, Connecticut &amp; Tennessee — high organic demand, low promo dependency. Prime targets for expansion without discounting.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754880" y="40690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1A2E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937760" y="4133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Insight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937760" y="435254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categories show ~49% retention &amp; ~25 day tenure. Customers are brand-loyal, not category-loyal. Entry point by volume: Clothing (345 new orders).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PLAYBOOK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Sunset Plan — Segment by Segment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2D0A0A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Promo Addicts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44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 customers  ·  8.52% revenue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20640" y="1097280"/>
            <a:ext cx="3383280" cy="256032"/>
          </a:xfrm>
          <a:prstGeom prst="roundRect">
            <a:avLst>
              <a:gd name="adj" fmla="val 17857"/>
            </a:avLst>
          </a:prstGeom>
          <a:solidFill>
            <a:srgbClr val="2D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097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SUNSET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57276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Remove promo codes  |  M2: Replace with free shipping  |  M3: Measure retention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181051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Revenue/customer monthly. Pause if avg ticket &lt; $40  |  Trade-off: 40-60% churn expected — margin improvement offsets ~$8-10K loss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2D1500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957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Promo Hunters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6426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1,307 customers  ·  33.52% revenue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20640" y="2395728"/>
            <a:ext cx="3383280" cy="256032"/>
          </a:xfrm>
          <a:prstGeom prst="roundRect">
            <a:avLst>
              <a:gd name="adj" fmla="val 17857"/>
            </a:avLst>
          </a:prstGeom>
          <a:solidFill>
            <a:srgbClr val="2D15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395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SUNSET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87121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M1-2: Reduce promo frequency  |  M3-4: Introduce loyalty points  |  M5-6: Promos on birthdays only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Repeat purchase rate without promo. Target: maintain &gt;45%  |  Trade-off: 15-20% short-term volume drop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602736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0A1F0A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694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Organic Loyalists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9410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2,223 customers  ·  57.96% revenue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20640" y="3694176"/>
            <a:ext cx="3383280" cy="256032"/>
          </a:xfrm>
          <a:prstGeom prst="roundRect">
            <a:avLst>
              <a:gd name="adj" fmla="val 17857"/>
            </a:avLst>
          </a:prstGeom>
          <a:solidFill>
            <a:srgbClr val="0A1F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36941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&amp; GROW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16966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discounts ever  |  Invest in: faster shipping, early product access, personalized recommendations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" y="440740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Avg LTV growth quarter on quarter  |  Trade-off: Unprompted discounts train them to wait for deals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CUSTOMER PROFILE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profile for marketing targeting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oundRect">
            <a:avLst>
              <a:gd name="adj" fmla="val 2381"/>
            </a:avLst>
          </a:prstGeom>
          <a:solidFill>
            <a:srgbClr val="1E0A3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1188720"/>
            <a:ext cx="1737360" cy="1737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18872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ORGANIC BUYER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3337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65960" y="3337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44-45 years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Usage: 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65960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never uses discounts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886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LTV: 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65960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4160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Category: 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65960" y="4160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4434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Geography: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65960" y="4434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Kansas / Connecticut / TN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10058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MARKETING CAN USE THIS TODAY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353312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4264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21808" y="1444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Ads Targeting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1737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40-45 age group in Kansas, Connecticut, Tennessee. Zero discount messaging — lead with premium brand story.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46888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5420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21808" y="25603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Lookalike Audiences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28529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963 High-Value customers list to Meta/Google Ads — create lookalike audience from this segment.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3584448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657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21808" y="36758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Messaging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9684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customer does not respond to 'SALE' headlines. Lead with quality, craftsmanship, and brand identity.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3B0764">
              <a:alpha val="70000"/>
            </a:srgbClr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474720"/>
            <a:ext cx="2286000" cy="2286000"/>
          </a:xfrm>
          <a:prstGeom prst="ellipse">
            <a:avLst/>
          </a:prstGeom>
          <a:solidFill>
            <a:srgbClr val="1E0A3C">
              <a:alpha val="80000"/>
            </a:srgbClr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5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is healthy.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42% of revenue has a hidden risk.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discounts  ·  Protect organic loyalists  ·  Target underlevered geographies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NEGI  |  IIT Guwahati C&amp;A Club  |  Summer Projects '26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Driven Retention Strategy</dc:title>
  <dc:subject>PptxGenJS Presentation</dc:subject>
  <dc:creator>Harsh Negi</dc:creator>
  <cp:lastModifiedBy>Harsh Negi</cp:lastModifiedBy>
  <cp:revision>1</cp:revision>
  <dcterms:created xsi:type="dcterms:W3CDTF">2026-06-11T19:32:11Z</dcterms:created>
  <dcterms:modified xsi:type="dcterms:W3CDTF">2026-06-11T19:32:11Z</dcterms:modified>
</cp:coreProperties>
</file>